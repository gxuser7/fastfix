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Тема проекта — информационная система «СервисДеск» для сервисного центра по ремонту бытовой и цифровой техники.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27432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Сервис</a:t>
            </a:r>
            <a:pPr indent="0" marL="0">
              <a:buNone/>
            </a:pPr>
            <a:r>
              <a:rPr lang="en-US" sz="2600" b="1" dirty="0">
                <a:solidFill>
                  <a:srgbClr val="2D6C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Деск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01168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Информационная система управления заявками в сервисный центр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9476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9FB0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От приёма устройства до выдачи — прослеживаемость каждой заявки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3949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B0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Выполнил: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Баймуратов Данил Азатович, группа 23П-1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760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FB0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Fullstack-разработчик · 2026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083296" y="1284589"/>
            <a:ext cx="3675888" cy="4288822"/>
          </a:xfrm>
          <a:prstGeom prst="roundRect">
            <a:avLst>
              <a:gd name="adj" fmla="val 1990"/>
            </a:avLst>
          </a:prstGeom>
          <a:solidFill>
            <a:srgbClr val="24344F"/>
          </a:solidFill>
          <a:ln w="12700">
            <a:solidFill>
              <a:srgbClr val="24344F"/>
            </a:solidFill>
            <a:prstDash val="solid"/>
          </a:ln>
        </p:spPr>
      </p:sp>
      <p:pic>
        <p:nvPicPr>
          <p:cNvPr id="8" name="Image 0" descr="C:\Users\000\Documents\Projects\ServiceDesk\docs\_build\img\screens\w_order_approv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39453"/>
            <a:ext cx="3566160" cy="417909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Проблема и цель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7A87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Сейчас учёт ведётся в бумажном журнале и таблицах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0134295" y="475488"/>
            <a:ext cx="27432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Сервис</a:t>
            </a:r>
            <a:pPr indent="0" marL="0">
              <a:buNone/>
            </a:pPr>
            <a:r>
              <a:rPr lang="en-US" sz="1600" b="1" dirty="0">
                <a:solidFill>
                  <a:srgbClr val="2D6C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Деск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136873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7A87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8521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3E8EE"/>
            </a:solidFill>
            <a:prstDash val="solid"/>
          </a:ln>
          <a:effectLst>
            <a:outerShdw sx="100000" sy="100000" kx="0" ky="0" algn="bl" rotWithShape="0" blurRad="127000" dist="38100" dir="5400000">
              <a:srgbClr val="1B2A41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920240"/>
            <a:ext cx="457200" cy="45720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183794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Потеря сведений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216712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A87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 неисправности и комплектности при передаче устройства от приёмщика мастеру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788920"/>
            <a:ext cx="58521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3E8EE"/>
            </a:solidFill>
            <a:prstDash val="solid"/>
          </a:ln>
          <a:effectLst>
            <a:outerShdw sx="100000" sy="100000" kx="0" ky="0" algn="bl" rotWithShape="0" blurRad="127000" dist="38100" dir="5400000">
              <a:srgbClr val="1B2A41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3017520"/>
            <a:ext cx="457200" cy="45720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293522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Звонки клиентов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326440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A87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нет актуальной информации о ходе ремонта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886200"/>
            <a:ext cx="58521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3E8EE"/>
            </a:solidFill>
            <a:prstDash val="solid"/>
          </a:ln>
          <a:effectLst>
            <a:outerShdw sx="100000" sy="100000" kx="0" ky="0" algn="bl" rotWithShape="0" blurRad="127000" dist="38100" dir="5400000">
              <a:srgbClr val="1B2A41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7240" y="4114800"/>
            <a:ext cx="457200" cy="45720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403250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Расхождения склада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417320" y="436168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A87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неучтённое использование запчастей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4983480"/>
            <a:ext cx="58521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3E8EE"/>
            </a:solidFill>
            <a:prstDash val="solid"/>
          </a:ln>
          <a:effectLst>
            <a:outerShdw sx="100000" sy="100000" kx="0" ky="0" algn="bl" rotWithShape="0" blurRad="127000" dist="38100" dir="5400000">
              <a:srgbClr val="1B2A41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77240" y="5212080"/>
            <a:ext cx="457200" cy="45720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" y="5212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417320" y="512978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Ошибки в расчётах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1417320" y="545896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A87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нет письменного согласования цены с клиентом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858000" y="1691640"/>
            <a:ext cx="4754880" cy="4206240"/>
          </a:xfrm>
          <a:prstGeom prst="roundRect">
            <a:avLst>
              <a:gd name="adj" fmla="val 2174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223760" y="19659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D6C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Цель</a:t>
            </a:r>
            <a:endParaRPr lang="en-US" sz="2200" dirty="0"/>
          </a:p>
        </p:txBody>
      </p:sp>
      <p:sp>
        <p:nvSpPr>
          <p:cNvPr id="28" name="Text 26"/>
          <p:cNvSpPr txBox="1"/>
          <p:nvPr/>
        </p:nvSpPr>
        <p:spPr>
          <a:xfrm>
            <a:off x="7223760" y="2514600"/>
            <a:ext cx="4114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Автоматизировать работу сервисного центра на всём пути устройства и исключить потерю информации между сотрудниками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7223760" y="4069080"/>
            <a:ext cx="4114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9D6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оформление заявки ≤ 3 мин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9D6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поиск заявки ≤ 2 с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9D6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статус у клиента ≤ 5 с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9D6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100 % смен статусов в истории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Пользователи и подсистемы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7A87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Четыре роли, четыре функциональные подсистемы, личный кабинет и администрирование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0134295" y="475488"/>
            <a:ext cx="27432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Сервис</a:t>
            </a:r>
            <a:pPr indent="0" marL="0">
              <a:buNone/>
            </a:pPr>
            <a:r>
              <a:rPr lang="en-US" sz="1600" b="1" dirty="0">
                <a:solidFill>
                  <a:srgbClr val="2D6C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Деск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136873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7A87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E3E8EE"/>
            </a:solidFill>
            <a:prstDash val="solid"/>
          </a:ln>
          <a:effectLst>
            <a:outerShdw sx="100000" sy="100000" kx="0" ky="0" algn="bl" rotWithShape="0" blurRad="127000" dist="38100" dir="5400000">
              <a:srgbClr val="1B2A41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965960"/>
            <a:ext cx="566928" cy="566928"/>
          </a:xfrm>
          <a:prstGeom prst="ellipse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67919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Клиент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0449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87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Веб-кабинет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42900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статус заявки в реальном времени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согласование стоимости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квитанция и акт в PDF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364992" y="169164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E3E8EE"/>
            </a:solidFill>
            <a:prstDash val="solid"/>
          </a:ln>
          <a:effectLst>
            <a:outerShdw sx="100000" sy="100000" kx="0" ky="0" algn="bl" rotWithShape="0" blurRad="127000" dist="38100" dir="5400000">
              <a:srgbClr val="1B2A41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39312" y="1965960"/>
            <a:ext cx="566928" cy="566928"/>
          </a:xfrm>
          <a:prstGeom prst="ellipse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639312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3639312" y="267919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Приёмщик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3639312" y="30449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87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Настольное приложение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639312" y="342900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оформление заявки, квитанция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приём оплаты, выдача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все заявки без права ремонта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81344" y="169164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E3E8EE"/>
            </a:solidFill>
            <a:prstDash val="solid"/>
          </a:ln>
          <a:effectLst>
            <a:outerShdw sx="100000" sy="100000" kx="0" ky="0" algn="bl" rotWithShape="0" blurRad="127000" dist="38100" dir="5400000">
              <a:srgbClr val="1B2A41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55664" y="1965960"/>
            <a:ext cx="566928" cy="566928"/>
          </a:xfrm>
          <a:prstGeom prst="ellipse">
            <a:avLst/>
          </a:prstGeom>
          <a:solidFill>
            <a:srgbClr val="7E57C2"/>
          </a:solidFill>
          <a:ln w="12700">
            <a:solidFill>
              <a:srgbClr val="7E57C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55664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6455664" y="267919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Мастер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455664" y="30449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87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Настольное приложение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455664" y="342900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диагностика и журнал работ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запрос и резерв запчастей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статусы своего этапа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997696" y="169164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E3E8EE"/>
            </a:solidFill>
            <a:prstDash val="solid"/>
          </a:ln>
          <a:effectLst>
            <a:outerShdw sx="100000" sy="100000" kx="0" ky="0" algn="bl" rotWithShape="0" blurRad="127000" dist="38100" dir="5400000">
              <a:srgbClr val="1B2A41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272016" y="1965960"/>
            <a:ext cx="566928" cy="566928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272016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9272016" y="267919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Кладовщик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9272016" y="30449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87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Настольное приложение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9272016" y="342900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остатки и оприходование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выдача деталей мастерам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инвентаризация, журнал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48640" y="5029200"/>
            <a:ext cx="2606040" cy="685800"/>
          </a:xfrm>
          <a:prstGeom prst="roundRect">
            <a:avLst>
              <a:gd name="adj" fmla="val 13333"/>
            </a:avLst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48640" y="502920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Приём заявок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3364992" y="5029200"/>
            <a:ext cx="2606040" cy="685800"/>
          </a:xfrm>
          <a:prstGeom prst="roundRect">
            <a:avLst>
              <a:gd name="adj" fmla="val 13333"/>
            </a:avLst>
          </a:prstGeom>
          <a:solidFill>
            <a:srgbClr val="7E57C2"/>
          </a:solidFill>
          <a:ln w="12700">
            <a:solidFill>
              <a:srgbClr val="7E57C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364992" y="502920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Управление ремонтом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6181344" y="5029200"/>
            <a:ext cx="2606040" cy="685800"/>
          </a:xfrm>
          <a:prstGeom prst="roundRect">
            <a:avLst>
              <a:gd name="adj" fmla="val 13333"/>
            </a:avLst>
          </a:prstGeom>
          <a:solidFill>
            <a:srgbClr val="E08A00"/>
          </a:solidFill>
          <a:ln w="12700">
            <a:solidFill>
              <a:srgbClr val="E08A0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181344" y="502920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Склад запчастей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8997696" y="5029200"/>
            <a:ext cx="2606040" cy="685800"/>
          </a:xfrm>
          <a:prstGeom prst="roundRect">
            <a:avLst>
              <a:gd name="adj" fmla="val 13333"/>
            </a:avLst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997696" y="502920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Расчёты и документы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Архитектура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7A87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Трёхзвенная клиент-серверная система: клиенты работают с данными только через API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0134295" y="475488"/>
            <a:ext cx="27432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Сервис</a:t>
            </a:r>
            <a:pPr indent="0" marL="0">
              <a:buNone/>
            </a:pPr>
            <a:r>
              <a:rPr lang="en-US" sz="1600" b="1" dirty="0">
                <a:solidFill>
                  <a:srgbClr val="2D6C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Деск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136873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7A87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882619"/>
            <a:ext cx="7680960" cy="4098603"/>
          </a:xfrm>
          <a:prstGeom prst="roundRect">
            <a:avLst>
              <a:gd name="adj" fmla="val 1785"/>
            </a:avLst>
          </a:prstGeom>
          <a:solidFill>
            <a:srgbClr val="FFFFFF"/>
          </a:solidFill>
          <a:ln w="9525">
            <a:solidFill>
              <a:srgbClr val="E3E8EE"/>
            </a:solidFill>
            <a:prstDash val="solid"/>
          </a:ln>
          <a:effectLst>
            <a:outerShdw sx="100000" sy="100000" kx="0" ky="0" algn="bl" rotWithShape="0" blurRad="127000" dist="38100" dir="5400000">
              <a:srgbClr val="1B2A41">
                <a:alpha val="18000"/>
              </a:srgbClr>
            </a:outerShdw>
          </a:effectLst>
        </p:spPr>
      </p:sp>
      <p:pic>
        <p:nvPicPr>
          <p:cNvPr id="7" name="Image 0" descr="C:\Users\000\Documents\Projects\ServiceDesk\docs\_build\img\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19779"/>
            <a:ext cx="7406640" cy="3824283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412480" y="16002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D6C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СУБД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412480" y="1911096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MySQL 8.0 · 18 таблиц, 2 представления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412480" y="253288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D6C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Сервер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412480" y="284378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ASP.NET Core 8, EF Core, JWT, SignalR, QuestPDF, Swagger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412480" y="346557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D6C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Сотрудники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8412480" y="377647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WPF, .NET 8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8412480" y="439826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D6C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Клиенты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412480" y="47091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Vue 3, Vite, адаптивная вёрстка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8412480" y="533095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D6C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Запуск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8412480" y="564184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Docker Compose: db, api, web (nginx), backup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База данных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7A87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Ссылочная целостность — внешние ключи; корректность — ограничения CHECK и UNIQUE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0134295" y="475488"/>
            <a:ext cx="27432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Сервис</a:t>
            </a:r>
            <a:pPr indent="0" marL="0">
              <a:buNone/>
            </a:pPr>
            <a:r>
              <a:rPr lang="en-US" sz="1600" b="1" dirty="0">
                <a:solidFill>
                  <a:srgbClr val="2D6C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Деск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136873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7A87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636101" y="1417320"/>
            <a:ext cx="3688918" cy="5120640"/>
          </a:xfrm>
          <a:prstGeom prst="roundRect">
            <a:avLst>
              <a:gd name="adj" fmla="val 1983"/>
            </a:avLst>
          </a:prstGeom>
          <a:solidFill>
            <a:srgbClr val="FFFFFF"/>
          </a:solidFill>
          <a:ln w="9525">
            <a:solidFill>
              <a:srgbClr val="E3E8EE"/>
            </a:solidFill>
            <a:prstDash val="solid"/>
          </a:ln>
          <a:effectLst>
            <a:outerShdw sx="100000" sy="100000" kx="0" ky="0" algn="bl" rotWithShape="0" blurRad="127000" dist="38100" dir="5400000">
              <a:srgbClr val="1B2A41">
                <a:alpha val="18000"/>
              </a:srgbClr>
            </a:outerShdw>
          </a:effectLst>
        </p:spPr>
      </p:sp>
      <p:pic>
        <p:nvPicPr>
          <p:cNvPr id="7" name="Image 0" descr="C:\Users\000\Documents\Projects\ServiceDesk\docs\_build\img\er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73261" y="1554480"/>
            <a:ext cx="3414598" cy="4846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869680" y="15544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1B2A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</a:t>
            </a:r>
            <a:endParaRPr lang="en-US" sz="4800" dirty="0"/>
          </a:p>
        </p:txBody>
      </p:sp>
      <p:sp>
        <p:nvSpPr>
          <p:cNvPr id="9" name="Text 6"/>
          <p:cNvSpPr txBox="1"/>
          <p:nvPr/>
        </p:nvSpPr>
        <p:spPr>
          <a:xfrm>
            <a:off x="8869680" y="23317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A87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таблиц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869680" y="278892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1B2A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4800" dirty="0"/>
          </a:p>
        </p:txBody>
      </p:sp>
      <p:sp>
        <p:nvSpPr>
          <p:cNvPr id="11" name="Text 8"/>
          <p:cNvSpPr txBox="1"/>
          <p:nvPr/>
        </p:nvSpPr>
        <p:spPr>
          <a:xfrm>
            <a:off x="8869680" y="35661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A87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представления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8869680" y="402336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1B2A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лет</a:t>
            </a:r>
            <a:endParaRPr lang="en-US" sz="4800" dirty="0"/>
          </a:p>
        </p:txBody>
      </p:sp>
      <p:sp>
        <p:nvSpPr>
          <p:cNvPr id="13" name="Text 10"/>
          <p:cNvSpPr txBox="1"/>
          <p:nvPr/>
        </p:nvSpPr>
        <p:spPr>
          <a:xfrm>
            <a:off x="8869680" y="48006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A87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хранение истории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8869680" y="534924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A87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Складские и платёжные операции выполняются в транзакциях, строка запчасти блокируется при резервировании (SELECT … FOR UPDATE)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Жизненный цикл заявки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7A87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Статус меняется только по допустимым переходам и только в пределах этапа своей роли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0134295" y="475488"/>
            <a:ext cx="27432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Сервис</a:t>
            </a:r>
            <a:pPr indent="0" marL="0">
              <a:buNone/>
            </a:pPr>
            <a:r>
              <a:rPr lang="en-US" sz="1600" b="1" dirty="0">
                <a:solidFill>
                  <a:srgbClr val="2D6C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Деск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136873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7A87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3248994"/>
            <a:ext cx="7955280" cy="1457292"/>
          </a:xfrm>
          <a:prstGeom prst="roundRect">
            <a:avLst>
              <a:gd name="adj" fmla="val 5020"/>
            </a:avLst>
          </a:prstGeom>
          <a:solidFill>
            <a:srgbClr val="FFFFFF"/>
          </a:solidFill>
          <a:ln w="9525">
            <a:solidFill>
              <a:srgbClr val="E3E8EE"/>
            </a:solidFill>
            <a:prstDash val="solid"/>
          </a:ln>
          <a:effectLst>
            <a:outerShdw sx="100000" sy="100000" kx="0" ky="0" algn="bl" rotWithShape="0" blurRad="127000" dist="38100" dir="5400000">
              <a:srgbClr val="1B2A41">
                <a:alpha val="18000"/>
              </a:srgbClr>
            </a:outerShdw>
          </a:effectLst>
        </p:spPr>
      </p:sp>
      <p:pic>
        <p:nvPicPr>
          <p:cNvPr id="7" name="Image 0" descr="C:\Users\000\Documents\Projects\ServiceDesk\docs\_build\img\lifecy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386154"/>
            <a:ext cx="7680960" cy="11829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778240" y="1600200"/>
            <a:ext cx="2834640" cy="310896"/>
          </a:xfrm>
          <a:prstGeom prst="roundRect">
            <a:avLst>
              <a:gd name="adj" fmla="val 50000"/>
            </a:avLst>
          </a:prstGeom>
          <a:solidFill>
            <a:srgbClr val="7A8794"/>
          </a:solidFill>
          <a:ln w="12700">
            <a:solidFill>
              <a:srgbClr val="7A879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778240" y="160020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Принята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778240" y="2075688"/>
            <a:ext cx="2834640" cy="310896"/>
          </a:xfrm>
          <a:prstGeom prst="roundRect">
            <a:avLst>
              <a:gd name="adj" fmla="val 50000"/>
            </a:avLst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778240" y="207568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Диагностика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778240" y="2551176"/>
            <a:ext cx="2834640" cy="310896"/>
          </a:xfrm>
          <a:prstGeom prst="roundRect">
            <a:avLst>
              <a:gd name="adj" fmla="val 50000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778240" y="2551176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Согласование с клиентом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778240" y="3026664"/>
            <a:ext cx="2834640" cy="310896"/>
          </a:xfrm>
          <a:prstGeom prst="roundRect">
            <a:avLst>
              <a:gd name="adj" fmla="val 50000"/>
            </a:avLst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778240" y="302666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Ожидание запчастей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778240" y="3502152"/>
            <a:ext cx="2834640" cy="310896"/>
          </a:xfrm>
          <a:prstGeom prst="roundRect">
            <a:avLst>
              <a:gd name="adj" fmla="val 50000"/>
            </a:avLst>
          </a:prstGeom>
          <a:solidFill>
            <a:srgbClr val="7E57C2"/>
          </a:solidFill>
          <a:ln w="12700">
            <a:solidFill>
              <a:srgbClr val="7E57C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778240" y="350215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 работе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778240" y="3977640"/>
            <a:ext cx="2834640" cy="310896"/>
          </a:xfrm>
          <a:prstGeom prst="roundRect">
            <a:avLst>
              <a:gd name="adj" fmla="val 50000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778240" y="397764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Готова к выдаче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778240" y="4453128"/>
            <a:ext cx="2834640" cy="310896"/>
          </a:xfrm>
          <a:prstGeom prst="roundRect">
            <a:avLst>
              <a:gd name="adj" fmla="val 50000"/>
            </a:avLst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78240" y="445312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Выдана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8778240" y="4928616"/>
            <a:ext cx="2834640" cy="310896"/>
          </a:xfrm>
          <a:prstGeom prst="roundRect">
            <a:avLst>
              <a:gd name="adj" fmla="val 50000"/>
            </a:avLst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778240" y="4928616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Отменена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8778240" y="55321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87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Недопустимый переход сервер отклоняет с кодом 409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Рабочее место приёмщика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7A87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Поиск по номеру и телефону, фильтр по статусу, выделение просрочки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0134295" y="475488"/>
            <a:ext cx="27432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Сервис</a:t>
            </a:r>
            <a:pPr indent="0" marL="0">
              <a:buNone/>
            </a:pPr>
            <a:r>
              <a:rPr lang="en-US" sz="1600" b="1" dirty="0">
                <a:solidFill>
                  <a:srgbClr val="2D6C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Деск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136873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7A87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12064" y="1808178"/>
            <a:ext cx="7662672" cy="4338924"/>
          </a:xfrm>
          <a:prstGeom prst="roundRect">
            <a:avLst>
              <a:gd name="adj" fmla="val 1054"/>
            </a:avLst>
          </a:prstGeom>
          <a:solidFill>
            <a:srgbClr val="FFFFFF"/>
          </a:solidFill>
          <a:ln w="9525">
            <a:solidFill>
              <a:srgbClr val="D5DCE4"/>
            </a:solidFill>
            <a:prstDash val="solid"/>
          </a:ln>
          <a:effectLst>
            <a:outerShdw sx="100000" sy="100000" kx="0" ky="0" algn="bl" rotWithShape="0" blurRad="127000" dist="38100" dir="5400000">
              <a:srgbClr val="1B2A41">
                <a:alpha val="18000"/>
              </a:srgbClr>
            </a:outerShdw>
          </a:effectLst>
        </p:spPr>
      </p:sp>
      <p:pic>
        <p:nvPicPr>
          <p:cNvPr id="7" name="Image 0" descr="C:\Users\000\Documents\Projects\ServiceDesk\docs\_build\img\screens\d_recept_ord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44754"/>
            <a:ext cx="7589520" cy="42657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503920" y="1645920"/>
            <a:ext cx="420624" cy="420624"/>
          </a:xfrm>
          <a:prstGeom prst="ellipse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503920" y="1645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9098280" y="162763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Новая заявка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9098280" y="1947672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87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поиск клиента по телефону, быстрая регистрация, чек-лист комплектности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503920" y="2816352"/>
            <a:ext cx="420624" cy="420624"/>
          </a:xfrm>
          <a:prstGeom prst="ellipse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503920" y="28163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9098280" y="2798064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Квитанция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9098280" y="3118104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87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номер заявки и PDF для печати сразу после оформления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503920" y="3986784"/>
            <a:ext cx="420624" cy="420624"/>
          </a:xfrm>
          <a:prstGeom prst="ellipse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503920" y="39867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9098280" y="396849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Оплата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9098280" y="4288536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87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наличные, карта, СБП; частичная оплата с контролем остатка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8503920" y="5157216"/>
            <a:ext cx="420624" cy="420624"/>
          </a:xfrm>
          <a:prstGeom prst="ellipse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503920" y="51572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9098280" y="513892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Выдача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9098280" y="545896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87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только после полной оплаты, акт выдачи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Рабочее место мастера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7A87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Действия в карточке зависят от роли и текущего статуса заявки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0134295" y="475488"/>
            <a:ext cx="27432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Сервис</a:t>
            </a:r>
            <a:pPr indent="0" marL="0">
              <a:buNone/>
            </a:pPr>
            <a:r>
              <a:rPr lang="en-US" sz="1600" b="1" dirty="0">
                <a:solidFill>
                  <a:srgbClr val="2D6C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Деск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136873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7A87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420624" cy="420624"/>
          </a:xfrm>
          <a:prstGeom prst="ellipse">
            <a:avLst/>
          </a:prstGeom>
          <a:solidFill>
            <a:srgbClr val="7E57C2"/>
          </a:solidFill>
          <a:ln w="12700">
            <a:solidFill>
              <a:srgbClr val="7E57C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645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62763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Диагностика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1947672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87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заключение и гарантийный срок 0–36 мес.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816352"/>
            <a:ext cx="420624" cy="420624"/>
          </a:xfrm>
          <a:prstGeom prst="ellipse">
            <a:avLst/>
          </a:prstGeom>
          <a:solidFill>
            <a:srgbClr val="7E57C2"/>
          </a:solidFill>
          <a:ln w="12700">
            <a:solidFill>
              <a:srgbClr val="7E57C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8163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279806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Смета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3118104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87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работы из прайс-листа или произвольные, запчасти со склада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986784"/>
            <a:ext cx="420624" cy="420624"/>
          </a:xfrm>
          <a:prstGeom prst="ellipse">
            <a:avLst/>
          </a:prstGeom>
          <a:solidFill>
            <a:srgbClr val="7E57C2"/>
          </a:solidFill>
          <a:ln w="12700">
            <a:solidFill>
              <a:srgbClr val="7E57C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9867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396849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Расчёт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4288536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87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 = Σ работ + Σ цена × кол-во запчастей; гарантия — 0 ₽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5157216"/>
            <a:ext cx="420624" cy="420624"/>
          </a:xfrm>
          <a:prstGeom prst="ellipse">
            <a:avLst/>
          </a:prstGeom>
          <a:solidFill>
            <a:srgbClr val="7E57C2"/>
          </a:solidFill>
          <a:ln w="12700">
            <a:solidFill>
              <a:srgbClr val="7E57C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51572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" y="513892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Нехватка детали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5458968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87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запрос «ожидает поступления», заявка → «Ожидание запчастей»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078224" y="1821027"/>
            <a:ext cx="7616952" cy="4313227"/>
          </a:xfrm>
          <a:prstGeom prst="roundRect">
            <a:avLst>
              <a:gd name="adj" fmla="val 1060"/>
            </a:avLst>
          </a:prstGeom>
          <a:solidFill>
            <a:srgbClr val="FFFFFF"/>
          </a:solidFill>
          <a:ln w="9525">
            <a:solidFill>
              <a:srgbClr val="D5DCE4"/>
            </a:solidFill>
            <a:prstDash val="solid"/>
          </a:ln>
          <a:effectLst>
            <a:outerShdw sx="100000" sy="100000" kx="0" ky="0" algn="bl" rotWithShape="0" blurRad="127000" dist="38100" dir="5400000">
              <a:srgbClr val="1B2A41">
                <a:alpha val="18000"/>
              </a:srgbClr>
            </a:outerShdw>
          </a:effectLst>
        </p:spPr>
      </p:sp>
      <p:pic>
        <p:nvPicPr>
          <p:cNvPr id="23" name="Image 0" descr="C:\Users\000\Documents\Projects\ServiceDesk\docs\_build\img\screens\d_master_c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1857603"/>
            <a:ext cx="7543800" cy="42400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Склад запчастей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7A87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Доступный остаток = на складе − в резерве; ниже минимального — подсветка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0134295" y="475488"/>
            <a:ext cx="27432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Сервис</a:t>
            </a:r>
            <a:pPr indent="0" marL="0">
              <a:buNone/>
            </a:pPr>
            <a:r>
              <a:rPr lang="en-US" sz="1600" b="1" dirty="0">
                <a:solidFill>
                  <a:srgbClr val="2D6C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Деск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136873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7A87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12064" y="1824881"/>
            <a:ext cx="5650992" cy="3208238"/>
          </a:xfrm>
          <a:prstGeom prst="roundRect">
            <a:avLst>
              <a:gd name="adj" fmla="val 1425"/>
            </a:avLst>
          </a:prstGeom>
          <a:solidFill>
            <a:srgbClr val="FFFFFF"/>
          </a:solidFill>
          <a:ln w="9525">
            <a:solidFill>
              <a:srgbClr val="D5DCE4"/>
            </a:solidFill>
            <a:prstDash val="solid"/>
          </a:ln>
          <a:effectLst>
            <a:outerShdw sx="100000" sy="100000" kx="0" ky="0" algn="bl" rotWithShape="0" blurRad="127000" dist="38100" dir="5400000">
              <a:srgbClr val="1B2A41">
                <a:alpha val="18000"/>
              </a:srgbClr>
            </a:outerShdw>
          </a:effectLst>
        </p:spPr>
      </p:sp>
      <p:pic>
        <p:nvPicPr>
          <p:cNvPr id="7" name="Image 0" descr="C:\Users\000\Documents\Projects\ServiceDesk\docs\_build\img\screens\d_sk_par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61457"/>
            <a:ext cx="5577840" cy="313508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318504" y="1901973"/>
            <a:ext cx="5376672" cy="3054053"/>
          </a:xfrm>
          <a:prstGeom prst="roundRect">
            <a:avLst>
              <a:gd name="adj" fmla="val 1497"/>
            </a:avLst>
          </a:prstGeom>
          <a:solidFill>
            <a:srgbClr val="FFFFFF"/>
          </a:solidFill>
          <a:ln w="9525">
            <a:solidFill>
              <a:srgbClr val="D5DCE4"/>
            </a:solidFill>
            <a:prstDash val="solid"/>
          </a:ln>
          <a:effectLst>
            <a:outerShdw sx="100000" sy="100000" kx="0" ky="0" algn="bl" rotWithShape="0" blurRad="127000" dist="38100" dir="5400000">
              <a:srgbClr val="1B2A41">
                <a:alpha val="18000"/>
              </a:srgbClr>
            </a:outerShdw>
          </a:effectLst>
        </p:spPr>
      </p:sp>
      <p:pic>
        <p:nvPicPr>
          <p:cNvPr id="9" name="Image 1" descr="C:\Users\000\Documents\Projects\ServiceDesk\docs\_build\img\screens\d_sk_invento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938549"/>
            <a:ext cx="5303520" cy="2980901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5486400"/>
            <a:ext cx="35661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E3E8EE"/>
            </a:solidFill>
            <a:prstDash val="solid"/>
          </a:ln>
          <a:effectLst>
            <a:outerShdw sx="100000" sy="100000" kx="0" ky="0" algn="bl" rotWithShape="0" blurRad="127000" dist="38100" dir="5400000">
              <a:srgbClr val="1B2A41">
                <a:alpha val="18000"/>
              </a:srgbClr>
            </a:outerShdw>
          </a:effectLst>
        </p:spPr>
      </p:sp>
      <p:sp>
        <p:nvSpPr>
          <p:cNvPr id="11" name="Text 7"/>
          <p:cNvSpPr txBox="1"/>
          <p:nvPr/>
        </p:nvSpPr>
        <p:spPr>
          <a:xfrm>
            <a:off x="731520" y="548640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Резерв под заявку по запросу мастера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297680" y="5486400"/>
            <a:ext cx="35661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E3E8EE"/>
            </a:solidFill>
            <a:prstDash val="solid"/>
          </a:ln>
          <a:effectLst>
            <a:outerShdw sx="100000" sy="100000" kx="0" ky="0" algn="bl" rotWithShape="0" blurRad="127000" dist="38100" dir="5400000">
              <a:srgbClr val="1B2A41">
                <a:alpha val="18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4480560" y="548640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Оприходование закрывает очередь запросов автоматически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046720" y="5486400"/>
            <a:ext cx="35661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E3E8EE"/>
            </a:solidFill>
            <a:prstDash val="solid"/>
          </a:ln>
          <a:effectLst>
            <a:outerShdw sx="100000" sy="100000" kx="0" ky="0" algn="bl" rotWithShape="0" blurRad="127000" dist="38100" dir="5400000">
              <a:srgbClr val="1B2A41">
                <a:alpha val="18000"/>
              </a:srgbClr>
            </a:outerShdw>
          </a:effectLst>
        </p:spPr>
      </p:sp>
      <p:sp>
        <p:nvSpPr>
          <p:cNvPr id="15" name="Text 11"/>
          <p:cNvSpPr txBox="1"/>
          <p:nvPr/>
        </p:nvSpPr>
        <p:spPr>
          <a:xfrm>
            <a:off x="8229600" y="548640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Инвентаризация: Δ = факт − учёт, корректировка и журнал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Личный кабинет клиента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7A87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Изменения статуса приходят через WebSocket (SignalR) без перезагрузки страницы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0134295" y="475488"/>
            <a:ext cx="27432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Сервис</a:t>
            </a:r>
            <a:pPr indent="0" marL="0">
              <a:buNone/>
            </a:pPr>
            <a:r>
              <a:rPr lang="en-US" sz="1600" b="1" dirty="0">
                <a:solidFill>
                  <a:srgbClr val="2D6C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Деск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136873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7A87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12064" y="1643634"/>
            <a:ext cx="6108192" cy="3845052"/>
          </a:xfrm>
          <a:prstGeom prst="roundRect">
            <a:avLst>
              <a:gd name="adj" fmla="val 1189"/>
            </a:avLst>
          </a:prstGeom>
          <a:solidFill>
            <a:srgbClr val="FFFFFF"/>
          </a:solidFill>
          <a:ln w="9525">
            <a:solidFill>
              <a:srgbClr val="D5DCE4"/>
            </a:solidFill>
            <a:prstDash val="solid"/>
          </a:ln>
          <a:effectLst>
            <a:outerShdw sx="100000" sy="100000" kx="0" ky="0" algn="bl" rotWithShape="0" blurRad="127000" dist="38100" dir="5400000">
              <a:srgbClr val="1B2A41">
                <a:alpha val="18000"/>
              </a:srgbClr>
            </a:outerShdw>
          </a:effectLst>
        </p:spPr>
      </p:sp>
      <p:pic>
        <p:nvPicPr>
          <p:cNvPr id="7" name="Image 0" descr="C:\Users\000\Documents\Projects\ServiceDesk\docs\_build\img\screens\w_ord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80210"/>
            <a:ext cx="6035040" cy="37719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912864" y="2467666"/>
            <a:ext cx="2587752" cy="3019949"/>
          </a:xfrm>
          <a:prstGeom prst="roundRect">
            <a:avLst>
              <a:gd name="adj" fmla="val 1767"/>
            </a:avLst>
          </a:prstGeom>
          <a:solidFill>
            <a:srgbClr val="FFFFFF"/>
          </a:solidFill>
          <a:ln w="9525">
            <a:solidFill>
              <a:srgbClr val="D5DCE4"/>
            </a:solidFill>
            <a:prstDash val="solid"/>
          </a:ln>
          <a:effectLst>
            <a:outerShdw sx="100000" sy="100000" kx="0" ky="0" algn="bl" rotWithShape="0" blurRad="127000" dist="38100" dir="5400000">
              <a:srgbClr val="1B2A41">
                <a:alpha val="18000"/>
              </a:srgbClr>
            </a:outerShdw>
          </a:effectLst>
        </p:spPr>
      </p:sp>
      <p:pic>
        <p:nvPicPr>
          <p:cNvPr id="9" name="Image 1" descr="C:\Users\000\Documents\Projects\ServiceDesk\docs\_build\img\screens\w_order_approv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2504242"/>
            <a:ext cx="2514600" cy="294679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9738360" y="1645920"/>
            <a:ext cx="20116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Шкала этапов ремонта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Согласование или отказ с фиксацией даты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Квитанция, смета и акт в PDF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Адаптивность: 1200 / 768 / 480 px</a:t>
            </a:r>
            <a:endParaRPr lang="en-US" sz="135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576072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87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Регистрация по тому же телефону, что назван приёмщику, — заявки появляются в кабинете автоматически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Расчёты и документы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7A87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Каждый документ регистрируется в реестре с уникальным номером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0134295" y="475488"/>
            <a:ext cx="27432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Сервис</a:t>
            </a:r>
            <a:pPr indent="0" marL="0">
              <a:buNone/>
            </a:pPr>
            <a:r>
              <a:rPr lang="en-US" sz="1600" b="1" dirty="0">
                <a:solidFill>
                  <a:srgbClr val="2D6C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Деск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136873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7A87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120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3E8EE"/>
            </a:solidFill>
            <a:prstDash val="solid"/>
          </a:ln>
          <a:effectLst>
            <a:outerShdw sx="100000" sy="100000" kx="0" ky="0" algn="bl" rotWithShape="0" blurRad="127000" dist="38100" dir="5400000">
              <a:srgbClr val="1B2A41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828800"/>
            <a:ext cx="822960" cy="502920"/>
          </a:xfrm>
          <a:prstGeom prst="roundRect">
            <a:avLst>
              <a:gd name="adj" fmla="val 10909"/>
            </a:avLst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8288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КВ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783080" y="17830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Квитанция о приёме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783080" y="21031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87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при оформлении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697480"/>
            <a:ext cx="5120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3E8EE"/>
            </a:solidFill>
            <a:prstDash val="solid"/>
          </a:ln>
          <a:effectLst>
            <a:outerShdw sx="100000" sy="100000" kx="0" ky="0" algn="bl" rotWithShape="0" blurRad="127000" dist="38100" dir="5400000">
              <a:srgbClr val="1B2A41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2880360"/>
            <a:ext cx="822960" cy="502920"/>
          </a:xfrm>
          <a:prstGeom prst="roundRect">
            <a:avLst>
              <a:gd name="adj" fmla="val 10909"/>
            </a:avLst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288036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СМ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783080" y="28346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Смета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783080" y="31546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87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после диагностики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749040"/>
            <a:ext cx="5120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3E8EE"/>
            </a:solidFill>
            <a:prstDash val="solid"/>
          </a:ln>
          <a:effectLst>
            <a:outerShdw sx="100000" sy="100000" kx="0" ky="0" algn="bl" rotWithShape="0" blurRad="127000" dist="38100" dir="5400000">
              <a:srgbClr val="1B2A41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3931920"/>
            <a:ext cx="822960" cy="502920"/>
          </a:xfrm>
          <a:prstGeom prst="roundRect">
            <a:avLst>
              <a:gd name="adj" fmla="val 10909"/>
            </a:avLst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393192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АВР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783080" y="38862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Акт выполненных работ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783080" y="42062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87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при готовности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800600"/>
            <a:ext cx="5120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3E8EE"/>
            </a:solidFill>
            <a:prstDash val="solid"/>
          </a:ln>
          <a:effectLst>
            <a:outerShdw sx="100000" sy="100000" kx="0" ky="0" algn="bl" rotWithShape="0" blurRad="127000" dist="38100" dir="5400000">
              <a:srgbClr val="1B2A41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31520" y="4983480"/>
            <a:ext cx="822960" cy="502920"/>
          </a:xfrm>
          <a:prstGeom prst="roundRect">
            <a:avLst>
              <a:gd name="adj" fmla="val 10909"/>
            </a:avLst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1520" y="498348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АВ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783080" y="49377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Акт выдачи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783080" y="5257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87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после выдачи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59436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87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Выдача — только после полной оплаты (кроме гарантийных и бесплатных заявок)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76645" y="1563624"/>
            <a:ext cx="4786070" cy="4873752"/>
          </a:xfrm>
          <a:prstGeom prst="roundRect">
            <a:avLst>
              <a:gd name="adj" fmla="val 955"/>
            </a:avLst>
          </a:prstGeom>
          <a:solidFill>
            <a:srgbClr val="FFFFFF"/>
          </a:solidFill>
          <a:ln w="9525">
            <a:solidFill>
              <a:srgbClr val="D5DCE4"/>
            </a:solidFill>
            <a:prstDash val="solid"/>
          </a:ln>
          <a:effectLst>
            <a:outerShdw sx="100000" sy="100000" kx="0" ky="0" algn="bl" rotWithShape="0" blurRad="127000" dist="38100" dir="5400000">
              <a:srgbClr val="1B2A41">
                <a:alpha val="18000"/>
              </a:srgbClr>
            </a:outerShdw>
          </a:effectLst>
        </p:spPr>
      </p:sp>
      <p:pic>
        <p:nvPicPr>
          <p:cNvPr id="28" name="Image 0" descr="C:\Users\000\Documents\Projects\ServiceDesk\docs\_build\img\screens\pdf_a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3221" y="1600200"/>
            <a:ext cx="4712918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Тестирование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7A87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Модульные, функциональные и интерфейсные проверки — все пройдены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0134295" y="475488"/>
            <a:ext cx="27432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Сервис</a:t>
            </a:r>
            <a:pPr indent="0" marL="0">
              <a:buNone/>
            </a:pPr>
            <a:r>
              <a:rPr lang="en-US" sz="1600" b="1" dirty="0">
                <a:solidFill>
                  <a:srgbClr val="2D6C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Деск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136873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7A87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3E8EE"/>
            </a:solidFill>
            <a:prstDash val="solid"/>
          </a:ln>
          <a:effectLst>
            <a:outerShdw sx="100000" sy="100000" kx="0" ky="0" algn="bl" rotWithShape="0" blurRad="127000" dist="38100" dir="5400000">
              <a:srgbClr val="1B2A41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22960" y="187452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1B2A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62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9260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A87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модульных тестов xUnit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64992" y="169164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3E8EE"/>
            </a:solidFill>
            <a:prstDash val="solid"/>
          </a:ln>
          <a:effectLst>
            <a:outerShdw sx="100000" sy="100000" kx="0" ky="0" algn="bl" rotWithShape="0" blurRad="127000" dist="38100" dir="5400000">
              <a:srgbClr val="1B2A41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639312" y="187452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2D6C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58</a:t>
            </a:r>
            <a:endParaRPr lang="en-US" sz="5400" dirty="0"/>
          </a:p>
        </p:txBody>
      </p:sp>
      <p:sp>
        <p:nvSpPr>
          <p:cNvPr id="11" name="Text 9"/>
          <p:cNvSpPr txBox="1"/>
          <p:nvPr/>
        </p:nvSpPr>
        <p:spPr>
          <a:xfrm>
            <a:off x="3639312" y="29260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A87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функциональных тест-кейсов через API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81344" y="169164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3E8EE"/>
            </a:solidFill>
            <a:prstDash val="solid"/>
          </a:ln>
          <a:effectLst>
            <a:outerShdw sx="100000" sy="100000" kx="0" ky="0" algn="bl" rotWithShape="0" blurRad="127000" dist="38100" dir="5400000">
              <a:srgbClr val="1B2A41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455664" y="187452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7E57C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5400" dirty="0"/>
          </a:p>
        </p:txBody>
      </p:sp>
      <p:sp>
        <p:nvSpPr>
          <p:cNvPr id="14" name="Text 12"/>
          <p:cNvSpPr txBox="1"/>
          <p:nvPr/>
        </p:nvSpPr>
        <p:spPr>
          <a:xfrm>
            <a:off x="6455664" y="29260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A87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проверок интерфейса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997696" y="169164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3E8EE"/>
            </a:solidFill>
            <a:prstDash val="solid"/>
          </a:ln>
          <a:effectLst>
            <a:outerShdw sx="100000" sy="100000" kx="0" ky="0" algn="bl" rotWithShape="0" blurRad="127000" dist="38100" dir="5400000">
              <a:srgbClr val="1B2A41">
                <a:alpha val="1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272016" y="187452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1E84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 мс</a:t>
            </a:r>
            <a:endParaRPr lang="en-US" sz="5400" dirty="0"/>
          </a:p>
        </p:txBody>
      </p:sp>
      <p:sp>
        <p:nvSpPr>
          <p:cNvPr id="17" name="Text 15"/>
          <p:cNvSpPr txBox="1"/>
          <p:nvPr/>
        </p:nvSpPr>
        <p:spPr>
          <a:xfrm>
            <a:off x="9272016" y="29260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A87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среднее время ответа API (норма ≤ 1 с)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114800"/>
            <a:ext cx="110642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E3E8EE"/>
            </a:solidFill>
            <a:prstDash val="solid"/>
          </a:ln>
          <a:effectLst>
            <a:outerShdw sx="100000" sy="100000" kx="0" ky="0" algn="bl" rotWithShape="0" blurRad="127000" dist="38100" dir="5400000">
              <a:srgbClr val="1B2A41">
                <a:alpha val="1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822960" y="42976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Найдено и исправлено 6 дефектов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475488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двойной учёт стоимости запчасти в смете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клавиша Enter не открывала карточку в списке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столбцы таблиц схлопывались при масштабе 125 %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перекрытие заголовка карточки, узкие поля форм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Развёртывание и безопасность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7A87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Серверная часть запускается одной командой docker compose up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0134295" y="475488"/>
            <a:ext cx="27432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Сервис</a:t>
            </a:r>
            <a:pPr indent="0" marL="0">
              <a:buNone/>
            </a:pPr>
            <a:r>
              <a:rPr lang="en-US" sz="1600" b="1" dirty="0">
                <a:solidFill>
                  <a:srgbClr val="2D6C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Деск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136873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7A87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2011055"/>
            <a:ext cx="7498080" cy="3841731"/>
          </a:xfrm>
          <a:prstGeom prst="roundRect">
            <a:avLst>
              <a:gd name="adj" fmla="val 1904"/>
            </a:avLst>
          </a:prstGeom>
          <a:solidFill>
            <a:srgbClr val="FFFFFF"/>
          </a:solidFill>
          <a:ln w="9525">
            <a:solidFill>
              <a:srgbClr val="E3E8EE"/>
            </a:solidFill>
            <a:prstDash val="solid"/>
          </a:ln>
          <a:effectLst>
            <a:outerShdw sx="100000" sy="100000" kx="0" ky="0" algn="bl" rotWithShape="0" blurRad="127000" dist="38100" dir="5400000">
              <a:srgbClr val="1B2A41">
                <a:alpha val="18000"/>
              </a:srgbClr>
            </a:outerShdw>
          </a:effectLst>
        </p:spPr>
      </p:sp>
      <p:pic>
        <p:nvPicPr>
          <p:cNvPr id="7" name="Image 0" descr="C:\Users\000\Documents\Projects\ServiceDesk\docs\_build\img\deploy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48215"/>
            <a:ext cx="7223760" cy="356741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229600" y="1709928"/>
            <a:ext cx="237744" cy="237744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41080" y="16459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JWT на 12 часов, пароли — хеш BCrypt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229600" y="2468880"/>
            <a:ext cx="237744" cy="237744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641080" y="240487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Блокировка на 15 минут после 5 неудачных попыток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229600" y="3227832"/>
            <a:ext cx="237744" cy="237744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641080" y="3163824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Права проверяются на сервере при каждом запросе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229600" y="3986784"/>
            <a:ext cx="237744" cy="237744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641080" y="3922776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Только параметризованные запросы ORM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229600" y="4745736"/>
            <a:ext cx="237744" cy="237744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641080" y="468172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Ежедневный mysqldump, хранение 30 дней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8229600" y="5504688"/>
            <a:ext cx="237744" cy="237744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41080" y="54406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Автоперезапуск контейнеров, данные в томе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27432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Сервис</a:t>
            </a:r>
            <a:pPr indent="0" marL="0">
              <a:buNone/>
            </a:pPr>
            <a:r>
              <a:rPr lang="en-US" sz="2000" b="1" dirty="0">
                <a:solidFill>
                  <a:srgbClr val="2D6C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Деск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28016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Итоги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2295144"/>
            <a:ext cx="274320" cy="274320"/>
          </a:xfrm>
          <a:prstGeom prst="ellipse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88720" y="224028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 API на ASP.NET Core с разграничением прав по ролям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2916936"/>
            <a:ext cx="274320" cy="274320"/>
          </a:xfrm>
          <a:prstGeom prst="ellipse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88720" y="2862072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Настольное приложение WPF для приёмщика, мастера и кладовщика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3538728"/>
            <a:ext cx="274320" cy="274320"/>
          </a:xfrm>
          <a:prstGeom prst="ellipse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88720" y="3483864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Веб-кабинет клиента на Vue с уведомлениями в реальном времени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" y="4160520"/>
            <a:ext cx="274320" cy="274320"/>
          </a:xfrm>
          <a:prstGeom prst="ellipse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188720" y="4105656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Документы PDF, учёт склада, оплата и выдача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782312"/>
            <a:ext cx="274320" cy="274320"/>
          </a:xfrm>
          <a:prstGeom prst="ellipse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188720" y="4727448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Docker Compose, резервное копирование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31520" y="5404104"/>
            <a:ext cx="274320" cy="274320"/>
          </a:xfrm>
          <a:prstGeom prst="ellipse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188720" y="534924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Комплект документации по разделу 9 ТЗ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589520" y="1371600"/>
            <a:ext cx="3931920" cy="4480560"/>
          </a:xfrm>
          <a:prstGeom prst="roundRect">
            <a:avLst>
              <a:gd name="adj" fmla="val 2326"/>
            </a:avLst>
          </a:prstGeom>
          <a:solidFill>
            <a:srgbClr val="24344F"/>
          </a:solidFill>
          <a:ln w="12700">
            <a:solidFill>
              <a:srgbClr val="24344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955280" y="16459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D6C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Развитие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7955280" y="2240280"/>
            <a:ext cx="3291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9D6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SMS и e-mail уведомления клиенту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9D6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Онлайн-оплата в личном кабинете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9D6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Отчёты по выручке и загрузке мастеров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9D6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Мобильное приложение для мастеров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60350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Спасибо за внимание!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ИС «СервисДеск» — управление заявками в сервисный центр</dc:title>
  <dc:subject>PptxGenJS Presentation</dc:subject>
  <dc:creator>Баймуратов Д. А.</dc:creator>
  <cp:lastModifiedBy>Баймуратов Д. А.</cp:lastModifiedBy>
  <cp:revision>1</cp:revision>
  <dcterms:created xsi:type="dcterms:W3CDTF">2026-09-28T16:10:51Z</dcterms:created>
  <dcterms:modified xsi:type="dcterms:W3CDTF">2026-09-28T16:10:51Z</dcterms:modified>
</cp:coreProperties>
</file>